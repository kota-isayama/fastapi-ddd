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0064"/>
                </a:solidFill>
              </a:rPr>
              <a:t>CDM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0064"/>
                </a:solidFill>
              </a:rPr>
              <a:t>COMMON DOMAIN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502920"/>
            <a:ext cx="8869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B0064"/>
                </a:solidFill>
              </a:rPr>
              <a:t>Common Domain Model 入門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2B0064"/>
                </a:solidFill>
              </a:rPr>
              <a:t>CDM 101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278892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—「7部構成・15分で学ぶCDM」日本語版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71800" y="2240280"/>
            <a:ext cx="795528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CDMの概要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CDMの設計原則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CDMの構造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CDMにおけるイベント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プロダクトモデル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分類（Qualifying）関数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CDMの活用と今後への参加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CDMの概要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金融市場には課題がある：参加者・機関・ベンダー・インフラが、取引データや業務データを異なる形式で保持している。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ライフサイクル変更も一貫しないため、照合・処理・連携に摩擦が生じる。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CDMは、金融商品・取引・取引ライフサイクルイベントを表す共通モデルである。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オープンソース標準として、データ・システム・プロセスを揃え、複数言語のコードとして実装できる。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CDMの設計原則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共通コンポーネントを抽象化し、正規化する。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小さな部品を下から組み上げるコンポーザビリティを重視する。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既存の業界フォーマットにマッピングし、互換性を確保する。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業界プロセスを表すロジックをモデル内に組み込む。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これにより、柔軟で効率的かつ広く適用可能な標準となる。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CDMの構造 - 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CDMは、データ型と関数で構成される。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それらは namespace に整理されており、FINOS CDM GitHub リポジトリのソースコード内のファイルとして確認できる。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CDMの構造 - b</a:t>
            </a:r>
            <a:endParaRPr lang="en-US" sz="2700" dirty="0"/>
          </a:p>
        </p:txBody>
      </p:sp>
      <p:pic>
        <p:nvPicPr>
          <p:cNvPr id="3" name="Image 0" descr="/mnt/data/cdm_pages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17320"/>
            <a:ext cx="466344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3949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CDMのデータ型は、データコンポーネントとその属性を定義する。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属性は、数値・日時・文字列・真偽値などの基本型、または複合型を取り得る。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列挙型（Enum）は、属性が取り得る値を限定するリストである。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325880"/>
            <a:ext cx="4846320" cy="416052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"price":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"value": 0.9175,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"unit": { "currency": "USD"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"perUnitOf": { "currency": "EUR"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"priceType": "ExchangeRate"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priceType = PriceTypeEnum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/ perUnitOf = Currency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number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CDMの構造 - 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512064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CDMの関数は、データを変更または検査し、業務プロセスを構築できるようにする。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例：資産の原産国が照会条件と一致するかを検査する関数。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234440"/>
            <a:ext cx="5394960" cy="429768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CheckAssetCountryOfOrigin: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assetCountryOfOrigin ISOCountryCodeEnum (0..*)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 EligibilityQuery (1..1)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isEqual boolean (1..1)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isEqual: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assetCountryOfOrigin is absent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assetCountryOfOrigin contains query -&gt; assetCountryOfOrigin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CDMにおけるイベント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WorkflowStep：ワークフロー上の業務イベント状態。承認済みの businessEvent、交渉中の proposedEvent、または rejection を含む。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BusinessEvent：1つ以上の取引に影響するライフサイクルイベント。primitive instruction を組み合わせて構成される。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Primitive Instruction：取引状態を before から after に遷移させる基本的な変更指示。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TradeState：各ライフサイクル段階の取引状態を表し、state・resetHistory・transferHistory を含む。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プロダクトモデル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Trade は、party・account・tradeDate・tradeIdentifier・tradableProduct などを持つ。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tradableProduct は product と PriceQuantity を含む。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 は contractualProduct に接続し、そこから各種 Payout へ展開される。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Payout には金利・オプション・クレジット・コモディティ・アセットなどが含まれる。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インデックス、証券、バスケット、FX、コモディティ等を下位要素として組み立てる。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分類（Qualifying）関数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CDMでは、商品・取引・イベントの「組み立て可能な部品」だけを定義する。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市場で使われる名称（Repo、InterestRate_IRSwap、CDSなど）は、データオブジェクトの内容を見て分類する。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ライフサイクルイベントの一般名（Repricing、upsize、closeout、Valuationなど）も同様に分類する。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この分類ロジックもCDM自身のコードとして実装されている。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要点と今後のCDMへの関わり方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CDMは、金融商品・取引・ライフサイクルイベントを表すオープンソース標準である。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コンポーザブル、正規化、モジュール化された共通部品を組み合わせ、複雑な対象を表現する。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と CDM ドキュメントから参照・利用できる。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メーリングリスト、ワーキンググループ、Issue、Pull Requestを通じて参加できる。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CDMを「必要な姿」にしていくために、コミュニティ参加が重要。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101 / LFEL1016 の学習リソース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15分では足りなかった場合でも、より包括的な Express Learning CDM コースが Linux Foundation Training Portal で無料提供されている。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本日の7トピックを約90分で学べる構成。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登録すると Linux Foundation の CDM デジタルバッジを取得できる。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リンク：training.linuxfoundation.org の LFEL1016 コース。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101 / LFEL1016：登録案内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CDM専門家が設計したコースで、CDMの基本を体系的に学べる。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登録ページまたはQRコードから申し込み可能。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コース開発者および FINOS / LF Training スタッフに謝辞。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@ FINOS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OSFF 2024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Common Domain Model（CDM）Workshop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Gabriel Callsen：International Capital Market Association, Senior Director, FinTech and Digitalisation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Tom Healey：FINXIS LLC / International Capital Market Association Consultant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International Capital Market Association（ICMA）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ICMAは、チューリッヒ、ロンドン、パリ、ブリュッセル、香港に拠点を持つ非営利の業界団体。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会員は69法域・610超に及び、発行体、銀行・証券会社、運用会社、保険会社、法律事務所、市場インフラ、中央銀行などを含む。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国際債券市場において50年以上、業界主導の標準・推奨事項を提供してきた。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例：Primary Market Handbook、Secondary Markets Rules、GMRA、ERCC Guide、Green/Social/Sustainability Bond Principles など。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CDMのメリット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相互運用性：共通言語に基づき社内外のシステムを接続し、効率を高め、摩擦と分断リスクを低減する。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自動化：取引処理を合理化し、手作業の照合を減らし、規制報告も容易にする。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イノベーション：新技術・新ビジネスモデルの適用を促進する。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FINOSのオープンソース枠組みの下で、レポ・証券貸借・債券・デリバティブ市場の横断的協働を可能にする。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コスト削減と新たな収益機会の創出につながる。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業界課題と潜在的な解決策</a:t>
            </a:r>
            <a:endParaRPr lang="en-US" sz="2700" dirty="0"/>
          </a:p>
        </p:txBody>
      </p:sp>
      <p:pic>
        <p:nvPicPr>
          <p:cNvPr id="3" name="Image 0" descr="/mnt/data/cdm_pages/p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521208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49377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業界課題：プロセスの不整合、データの不整合、データの重複。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潜在的解決策：プロセス標準、データ標準、権威あるデータストア。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CDMは、共通のプロセス・データ表現を提供し、こうした課題への基盤となる。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構造化データ配信（ISO 20022）とCDM</a:t>
            </a:r>
            <a:endParaRPr lang="en-US" sz="2700" dirty="0"/>
          </a:p>
        </p:txBody>
      </p:sp>
      <p:pic>
        <p:nvPicPr>
          <p:cNvPr id="3" name="Image 0" descr="/mnt/data/cdm_pages/pag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1206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30352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 20022は、共通の開発方法論・プロセス・リポジトリで構成される標準。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新しいメッセージは登録プロセスに従って開発され、金融リポジトリに公開される。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ネットワークや市場インフラは、ベースメッセージを利用者固有のニーズに合わせて変更する。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金融機関は、そのネットワークや市場インフラに求められるメッセージ/APIを実装する。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CDMは、商品・プロセスをオープンソースでコード化し、メッセージ種別を横断した翻訳と自動化を支える。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CDMのユースケース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エンタープライズ・ミドルウェア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取引執行：New Trade、Cancel、Replace、Allocation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契約書：GMRA、GMSLA、ISDA Master、ISDA CSA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規制報告：CFTC Rewrite、SFTR、OFR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担保適格性：GC baskets、Tri-party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参照データ：Currency、Indices、Party、Securities、Legal Agreements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ライフサイクルイベント：Rate Reset、Early Termination、Roll、Reprice、Adjust、Substitution、Pair-off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レポ取引ライフサイクル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商品作成：Term/Open、Fixed/Float、Classic/GC/Triparty。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条項：Substitution、Early Termination、Evergreen、Extendible。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執行：Cancel、Replace、Allocation。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ライフサイクル：Roll、Terminate、Rerate、Reprice、Adjust、Substitution。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決済：Transfers、Shaping、Pair-off。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決済フェイルは高コストなコミュニケーションエラー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ICMAは、決済フェイルの主因として、証券が引渡し可能でないこと（70%）と、照合指示に関する失敗（27%）を特定している。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決済効率改善に向けた機会・次の一手として、Shaping、Partial / Auto-partial、Auto-borrowing、Netting agreements / Pair-offs が挙げられる。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参照：ICMA “Optimising settlement efficiency”, ERCC discussion paper, 2022年2月。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 Pair-off（双方向ネッティング）のベストプラクティス案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ICMA ERCCは、二者間 pair-off 契約のチェックリスト案を公表し、2024年8月13日に更新した。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Pair-offとは、同一証券・同一保管機関・同一通貨・同一日・同一当事者間の反対方向決済指図を取り消し、単一のネット決済指図に置き換える手続き。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ロールオーバー、GMRA 4(j)-(k) に基づくリプライス、オープンレポのリレート時に特に一般的。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CDMは、pair-off可能な取引を照合し、単一のネット取引を生成するイベントをサポートする。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ワークフローは、開始、確認、日時カットオフ、契約上の合意を扱える。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Pair-off ベストプラクティスの検討事項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法的契約および義務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対象となる取引種別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照合パラメータ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全額または一部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1対1、1対多、多対多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グロス/ネットの総額制限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決済代理人、ICSD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カットオフ時刻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メッセージ形式：XML、ISO 20022、FIX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Getting Started Workshop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この後半は、CDMの実装・デモ・リポジトリ例に焦点を当てる。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商品カバレッジ、イベントカバレッジ、トレーニングデモ、レポ pair-off ワークフローを確認する。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商品カバレッジ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Vanilla Products：債券、株式、FX、コモディティ、ファンド。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Financing：レポ（Open/Fixed Term、Fixed/Floating Rate）、証券貸借。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Interest Rate Derivatives：IRS、クロスカレンシー、NDS、Basis、Swaptions、Caps/Floors、FRA。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Credit Derivatives：CDS、バスケット、トランシェ、CDSオプション。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Commodity / FX / Equity Derivatives：スワップ、オプション、フォワード、TRS、VarSwap、VolSwap等。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Exchange Traded derivatives も対象。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イベントカバレッジ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and Derivative Events：Allocation、Transfer、DVP settlement、Clearing、Compression、Novation、Termination等。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 Lifecycle Events：Reprice、Rerate、Adjustment、Substitution、Early Termination、Interest Payment、Shaping、Pair-off。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Primitive Events：Execution、Contract Formation、Exercise、Party Change、Quantity Change、Reset、Split、Terms Change、Transfer、Index Transition、Stock Split、Observation、Valuation。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Getting Started Training Demo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目的：証券モデルに基づくシンプルな商品タイプを作成する。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取引を執行・取消するためのワークフロープランを作成する。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執行指図を作成し、取引を執行する。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取消指図を作成し、取引を取消する。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トレーニング例：https://github.com/tomhealey-icma/cdm-training-app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アプリケーション依存関係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56692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Java 配布物は、インジェクタ作成に利用できる事前構築済み CDM モジュールを含む。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ModelObjectValidator や QualifyFunctionFactory などに必要なバインディングを提供する。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Abs、Sum など複数の CDM 関数実装もバインドされる。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Rosetta のシリアライズ、GlobalKey、ModelObject、Date、MetaFields などを利用する。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5029200" cy="429768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&lt;groupId&gt;org.finos.cdm&lt;/groupId&gt;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&lt;artifactId&gt;cdm-java&lt;/artifactId&gt;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&lt;version&gt;5.8.0&lt;/version&gt;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com.google.inject.Injector;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com.regnosys.rosetta.common.serialisation.RosettaObjectMapper;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com.rosetta.model.lib.GlobalKey;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com.rosetta.model.metafields.MetaFields;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Event 実行ステップ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881360" cy="498348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ExecutionInstruction executionInstruction = ExecutionInstruction.builder()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.setProduct(product)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.addPriceQuantity(priceQuantity)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.addCounterparty(counterparties)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.addParties(parties)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.addPartyRoles(partyRoles)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.setExecutionDetails(executionDetails)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.setTradeDate(tradeDate)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.addTradeIdentifier(tradeId)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Instruction instruction = Instruction.builder()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.setPrimitiveInstruction(PrimitiveInstruction.builder()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.setExecution(executionInstruction))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.setBeforeValue(null)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List&lt;Instruction&gt; instructionList = List.of(instruction);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Create_BusinessEvent execEvent = new Create_BusinessEvent.Create_BusinessEventDefault();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injector.injectMembers(execEvent);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BusinessEvent businessEvent = execEvent.evaluate(instructionList, null, eventDate, effectiveDate);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UIとCDM実行イベント</a:t>
            </a:r>
            <a:endParaRPr lang="en-US" sz="2700" dirty="0"/>
          </a:p>
        </p:txBody>
      </p:sp>
      <p:pic>
        <p:nvPicPr>
          <p:cNvPr id="3" name="Image 0" descr="/mnt/data/cdm_pages/pag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34440"/>
            <a:ext cx="53035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画面上の入力・操作が、CDMの Execution Event として生成される。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実行結果は CDM の BusinessEvent として表現され、後続のライフサイクル処理につながる。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原資料のスクリーンショットを右側に参照用として保持。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レポ Pair-off 例</a:t>
            </a:r>
            <a:endParaRPr lang="en-US" sz="2700" dirty="0"/>
          </a:p>
        </p:txBody>
      </p:sp>
      <p:pic>
        <p:nvPicPr>
          <p:cNvPr id="3" name="Image 0" descr="/mnt/data/cdm_pages/pag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34440"/>
            <a:ext cx="53035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レポ取引の pair-off を CDM で表現する例。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複数の反対方向決済指図を照合し、ネット決済へ置き換えるワークフローを示す。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原資料の図を参照用として保持。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 Pair-off ワークフロー</a:t>
            </a:r>
            <a:endParaRPr lang="en-US" sz="2700" dirty="0"/>
          </a:p>
        </p:txBody>
      </p:sp>
      <p:pic>
        <p:nvPicPr>
          <p:cNvPr id="3" name="Image 0" descr="/mnt/data/cdm_pages/pag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34440"/>
            <a:ext cx="53035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Pair-off の開始、照合、確認、カットオフ、ネット取引生成の流れを示す。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CDMは、イベントとワークフローステップを使って処理状態を追跡する。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レポ ワークフロー</a:t>
            </a:r>
            <a:endParaRPr lang="en-US" sz="2700" dirty="0"/>
          </a:p>
        </p:txBody>
      </p:sp>
      <p:pic>
        <p:nvPicPr>
          <p:cNvPr id="3" name="Image 0" descr="/mnt/data/cdm_pages/page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34440"/>
            <a:ext cx="53035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レポ取引の執行からライフサイクルイベント、決済関連処理までを、CDMのデータ型・イベントで接続する。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プロセスを標準化し、実装間の相互運用性を高める。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レポ Pair-off Request ワークフロー</a:t>
            </a:r>
            <a:endParaRPr lang="en-US" sz="2700" dirty="0"/>
          </a:p>
        </p:txBody>
      </p:sp>
      <p:pic>
        <p:nvPicPr>
          <p:cNvPr id="3" name="Image 0" descr="/mnt/data/cdm_pages/page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34440"/>
            <a:ext cx="53035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Pair-off Request は、取引照合・承認・処理結果の生成を含むワークフローとして扱う。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契約条件、カットオフ時刻、当事者間の確認などを処理に反映できる。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Repo Demo</a:t>
            </a:r>
            <a:endParaRPr lang="en-US" sz="2700" dirty="0"/>
          </a:p>
        </p:txBody>
      </p:sp>
      <p:pic>
        <p:nvPicPr>
          <p:cNvPr id="3" name="Image 0" descr="/mnt/data/cdm_pages/page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34440"/>
            <a:ext cx="53035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デモでは、CDMを使ったレポ取引・ライフサイクル・pair-off 処理の実装例を確認する。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共通モデルをコードとして利用することで、プロダクト、イベント、ワークフローを一貫して扱える。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CDMリソース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CDM Home Page：https://cdm.finos.org/docs/home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Repository：https://github.com/finos/common-domain-model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Production release 例：git clone -b "5.13.0" https://github.com/finos/common-domain-model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Development release 例：git clone -b "6.0.0-dev.52" https://github.com/finos/common-domain-model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Issues：https://github.com/finos/common-domain-model/issues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Training / Repo / Basket Builder examples も GitHub で公開。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ICMA 連絡先とリソース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ICMA contacts：Gabriel Callsen（Senior Director）、Tom Healey（Consultant）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Useful links：FINOS CDM GitHub repository、FinTech Overview、ICMA’s CDM webpage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ICMA CDM Demo：repo transaction automation（2023年4月）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Bond Data Taxonomy、DLT Bonds Working Group、FinTech newsletter、Podcasts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注意：本資料は情報提供のみを目的としており、法務・金融その他の専門的助言として依拠すべきではない。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International Capital Market Association (ICMA), Zurich, 2024. All rights reserved.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  Fintech Open Source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81360" y="6473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2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finos.org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CDM 101 / CDM Repo Demo 日本語版</dc:title>
  <dc:subject>Japanese version of CDM 101 / CDM Repo Demo</dc:subject>
  <dc:creator>OpenAI</dc:creator>
  <cp:lastModifiedBy>OpenAI</cp:lastModifiedBy>
  <cp:revision>1</cp:revision>
  <dcterms:created xsi:type="dcterms:W3CDTF">2026-05-13T11:52:56Z</dcterms:created>
  <dcterms:modified xsi:type="dcterms:W3CDTF">2026-05-13T11:52:56Z</dcterms:modified>
</cp:coreProperties>
</file>